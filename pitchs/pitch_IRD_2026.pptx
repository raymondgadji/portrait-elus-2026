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ortrait-elus-2026.f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ortrait-elus-2026.fr" TargetMode="External"/><Relationship Id="rId2" Type="http://schemas.openxmlformats.org/officeDocument/2006/relationships/hyperlink" Target="https://www.data.gouv.fr/reuses/portrait-des-elus-municipaux-2026" TargetMode="External"/><Relationship Id="rId3" Type="http://schemas.openxmlformats.org/officeDocument/2006/relationships/hyperlink" Target="https://www.linkedin.com/in/raymond-gadji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32918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4B"/>
                </a:solidFill>
              </a:rPr>
              <a:t>🏆  LAURÉAT · CHALLENGE OPEN DATA · DATA.GOUV.FR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Portrait des Élus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Municipaux 2026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278892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C8FF"/>
                </a:solidFill>
              </a:rPr>
              <a:t>Les élu·es qui nous gouvernent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A5C8FF"/>
                </a:solidFill>
              </a:rPr>
              <a:t>ressemblent-ils à leur population 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Raymond Gadji · Créateur de l'IRD</a:t>
            </a:r>
            <a:endParaRPr lang="en-US" sz="11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411480" y="4709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u="sng" dirty="0">
                <a:solidFill>
                  <a:srgbClr val="0891B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www.portrait-elus-2026.fr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502920"/>
            <a:ext cx="2651760" cy="2651760"/>
          </a:xfrm>
          <a:prstGeom prst="ellipse">
            <a:avLst/>
          </a:prstGeom>
          <a:solidFill>
            <a:srgbClr val="1B4FD8">
              <a:alpha val="25000"/>
            </a:srgbClr>
          </a:solidFill>
          <a:ln w="12700">
            <a:solidFill>
              <a:srgbClr val="1B4FD8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822960"/>
            <a:ext cx="2011680" cy="2011680"/>
          </a:xfrm>
          <a:prstGeom prst="ellipse">
            <a:avLst/>
          </a:prstGeom>
          <a:solidFill>
            <a:srgbClr val="1B4FD8">
              <a:alpha val="45000"/>
            </a:srgbClr>
          </a:solidFill>
          <a:ln w="12700">
            <a:solidFill>
              <a:srgbClr val="1B4FD8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91440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🗳️</a:t>
            </a:r>
            <a:endParaRPr lang="en-US" sz="7200" dirty="0"/>
          </a:p>
        </p:txBody>
      </p:sp>
      <p:sp>
        <p:nvSpPr>
          <p:cNvPr id="12" name="Shape 10"/>
          <p:cNvSpPr/>
          <p:nvPr/>
        </p:nvSpPr>
        <p:spPr>
          <a:xfrm>
            <a:off x="5943600" y="3474720"/>
            <a:ext cx="2926080" cy="1325880"/>
          </a:xfrm>
          <a:prstGeom prst="rect">
            <a:avLst/>
          </a:prstGeom>
          <a:solidFill>
            <a:srgbClr val="1B4FD8">
              <a:alpha val="15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3474720"/>
            <a:ext cx="2926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34 874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5C8FF"/>
                </a:solidFill>
              </a:rPr>
              <a:t>maires analysés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485 827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5C8FF"/>
                </a:solidFill>
              </a:rPr>
              <a:t>conseillers municipaux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01  LE PROBLÈME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La démocratie représentative représente-t-elle vraiment tout le monde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011680"/>
            <a:ext cx="265176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48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⚖️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B"/>
                </a:solidFill>
              </a:rPr>
              <a:t>Genre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29184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Seuls 43% des maires sont des femmes, contre 52% de la population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20116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011680"/>
            <a:ext cx="265176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148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🎂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37560" y="2834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B"/>
                </a:solidFill>
              </a:rPr>
              <a:t>Âge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329184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Les élus ont en moyenne 56 ans — loin du profil de la population active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20116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011680"/>
            <a:ext cx="265176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148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💼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72200" y="2834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B"/>
                </a:solidFill>
              </a:rPr>
              <a:t>CSP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329184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Les cadres et professions libérales sont surreprésentés chez les élus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02  LA SOLUTION : L'IRD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Indice de Représentativité Démocratique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5C8FF"/>
                </a:solidFill>
              </a:rPr>
              <a:t>Un score calculé pour chacune des 32 354 communes françaises,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A5C8FF"/>
                </a:solidFill>
              </a:rPr>
              <a:t>qui mesure l'écart entre le profil des élus et celui de leur population.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468880"/>
            <a:ext cx="4032504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Score 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Score moyen : 49,1 / 100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Score 100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2651760" cy="1463040"/>
          </a:xfrm>
          <a:prstGeom prst="rect">
            <a:avLst/>
          </a:prstGeom>
          <a:solidFill>
            <a:srgbClr val="0D2A6B"/>
          </a:solidFill>
          <a:ln w="127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5C8FF"/>
                </a:solidFill>
              </a:rPr>
              <a:t>Genre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</a:rPr>
              <a:t>49,1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48640" y="4526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/100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3337560"/>
            <a:ext cx="2651760" cy="1463040"/>
          </a:xfrm>
          <a:prstGeom prst="rect">
            <a:avLst/>
          </a:prstGeom>
          <a:solidFill>
            <a:srgbClr val="0D2A6B"/>
          </a:solidFill>
          <a:ln w="127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5C8FF"/>
                </a:solidFill>
              </a:rPr>
              <a:t>Âge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3794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</a:rPr>
              <a:t>41,4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383280" y="4526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/100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3337560"/>
            <a:ext cx="2651760" cy="1463040"/>
          </a:xfrm>
          <a:prstGeom prst="rect">
            <a:avLst/>
          </a:prstGeom>
          <a:solidFill>
            <a:srgbClr val="0D2A6B"/>
          </a:solidFill>
          <a:ln w="127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5C8FF"/>
                </a:solidFill>
              </a:rPr>
              <a:t>CSP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3794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</a:rPr>
              <a:t>59,9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217920" y="4526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/100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03  RÉSULTATS CLÉS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09728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F4444"/>
                </a:solidFill>
              </a:rPr>
              <a:t>26,8%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des communes ont un IRD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inférieur à 40/100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06324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3063240"/>
            <a:ext cx="109728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2461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B981"/>
                </a:solidFill>
              </a:rPr>
              <a:t>7,7%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94360" y="39319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des communes atteignent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un IRD supérieur à 70/100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188720"/>
            <a:ext cx="109728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3716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91B2"/>
                </a:solidFill>
              </a:rPr>
              <a:t>49,1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800600" y="20574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IRD moyen national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(sur 100)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06324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3063240"/>
            <a:ext cx="109728" cy="164592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2461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4FD8"/>
                </a:solidFill>
              </a:rPr>
              <a:t>32 354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800600" y="39319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communes analysées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avec données INSEE 2022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Source : RNE (Ministère de l'Intérieur) + INSEE Recensement 2022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EXPLOREZ, COLLABOREZ, AGISSEZ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5C8FF"/>
                </a:solidFill>
              </a:rPr>
              <a:t>Un outil libre, citoyen et open source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5C8FF"/>
                </a:solidFill>
              </a:rPr>
              <a:t>pour mesurer la démocratie commune par commune.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2148840"/>
            <a:ext cx="2651760" cy="2423160"/>
          </a:xfrm>
          <a:prstGeom prst="rect">
            <a:avLst/>
          </a:prstGeom>
          <a:solidFill>
            <a:srgbClr val="0D2A6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240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Accéder à l'outil</a:t>
            </a:r>
            <a:endParaRPr lang="en-US" sz="14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457200" y="3337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u="sng" dirty="0">
                <a:solidFill>
                  <a:srgbClr val="0891B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www.portrait-elus-2026.fr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2148840"/>
            <a:ext cx="2651760" cy="2423160"/>
          </a:xfrm>
          <a:prstGeom prst="rect">
            <a:avLst/>
          </a:prstGeom>
          <a:solidFill>
            <a:srgbClr val="0D2A6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2240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3756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Données ouvertes</a:t>
            </a:r>
            <a:endParaRPr lang="en-US" sz="140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3291840" y="3337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u="sng" dirty="0">
                <a:solidFill>
                  <a:srgbClr val="0891B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data.gouv.fr — réutilisation publiée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2148840"/>
            <a:ext cx="2651760" cy="2423160"/>
          </a:xfrm>
          <a:prstGeom prst="rect">
            <a:avLst/>
          </a:prstGeom>
          <a:solidFill>
            <a:srgbClr val="0D2A6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2240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💼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7220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Collaborer</a:t>
            </a:r>
            <a:endParaRPr lang="en-US" sz="1400" dirty="0"/>
          </a:p>
        </p:txBody>
      </p:sp>
      <p:sp>
        <p:nvSpPr>
          <p:cNvPr id="16" name="Text 14">
            <a:hlinkClick r:id="rId3" tooltip=""/>
          </p:cNvPr>
          <p:cNvSpPr/>
          <p:nvPr/>
        </p:nvSpPr>
        <p:spPr>
          <a:xfrm>
            <a:off x="6126480" y="3337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u="sng" dirty="0">
                <a:solidFill>
                  <a:srgbClr val="0891B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linkedin.com/in/raymond-gadji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0" y="4663440"/>
            <a:ext cx="4572000" cy="365760"/>
          </a:xfrm>
          <a:prstGeom prst="rect">
            <a:avLst/>
          </a:prstGeom>
          <a:solidFill>
            <a:srgbClr val="1B4FD8">
              <a:alpha val="30000"/>
            </a:srgbClr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C8FF"/>
                </a:solidFill>
              </a:rPr>
              <a:t>Raymond Gadji · Lauréat Challenge Open Data data.gouv.fr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Portrait des Élus Municipaux 2026 — Pitch IRD</dc:title>
  <dc:subject>PptxGenJS Presentation</dc:subject>
  <dc:creator>Raymond Gadji</dc:creator>
  <cp:lastModifiedBy>Raymond Gadji</cp:lastModifiedBy>
  <cp:revision>1</cp:revision>
  <dcterms:created xsi:type="dcterms:W3CDTF">2026-04-28T15:03:07Z</dcterms:created>
  <dcterms:modified xsi:type="dcterms:W3CDTF">2026-04-28T15:03:07Z</dcterms:modified>
</cp:coreProperties>
</file>